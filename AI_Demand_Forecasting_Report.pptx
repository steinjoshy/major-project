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88952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AI-Based Demand Forecasting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EA5E9"/>
                </a:solidFill>
                <a:latin typeface="Segoe UI"/>
              </a:rPr>
              <a:t>for Inventory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788920"/>
            <a:ext cx="338328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LSTM  ·  Hybrid ARIMA + XGBoost  ·  Safety Stock  ·  Reorder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Segoe UI"/>
              </a:rPr>
              <a:t>B.E. Artificial Intelligence &amp; Machine Learning  —  Major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937760"/>
            <a:ext cx="1783080" cy="310896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BEAFE"/>
                </a:solidFill>
                <a:latin typeface="Segoe UI"/>
              </a:rPr>
              <a:t>TensorFlow / Keras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4937760"/>
            <a:ext cx="1783080" cy="310896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4937760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BEAFE"/>
                </a:solidFill>
                <a:latin typeface="Segoe UI"/>
              </a:rPr>
              <a:t>XGBoost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937760"/>
            <a:ext cx="1783080" cy="310896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937760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BEAFE"/>
                </a:solidFill>
                <a:latin typeface="Segoe UI"/>
              </a:rPr>
              <a:t>ARIMA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59" y="4937760"/>
            <a:ext cx="1783080" cy="310896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59" y="4937760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BEAFE"/>
                </a:solidFill>
                <a:latin typeface="Segoe UI"/>
              </a:rPr>
              <a:t>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4937760"/>
            <a:ext cx="1783080" cy="310896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4937760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BEAFE"/>
                </a:solidFill>
                <a:latin typeface="Segoe UI"/>
              </a:rPr>
              <a:t>Plotly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An end-to-end AI-powered demand forecasting and inventory management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49039" cy="429768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9933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Segoe UI"/>
              </a:rPr>
              <a:t>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377440"/>
            <a:ext cx="457200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46888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Retail businesses suffer from over-stocking and stock-outs due to poor demand prediction. This system uses AI to accurately forecast demand and optimize inventory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874519"/>
            <a:ext cx="3749039" cy="429768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1" y="19933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Segoe UI"/>
              </a:rPr>
              <a:t>Solution 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6551" y="2377440"/>
            <a:ext cx="457200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1" y="246888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Deep learning (LSTM) and statistical-ML hybrid (ARIMA + XGBoost) models are trained on historical sales data, compared on test accuracy, and the best model drives inventory recommendations.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74519"/>
            <a:ext cx="3749039" cy="429768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9933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Segoe UI"/>
              </a:rPr>
              <a:t>Expected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48471" y="2377440"/>
            <a:ext cx="457200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246888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Reduced carrying costs, fewer stock-outs, data-driven reorder decisions, and transparent safety stock calculations — all through an interactive web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315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2471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  <a:latin typeface="Segoe UI"/>
              </a:rPr>
              <a:t>Data Ingestion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63040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CSV Upload · Local folder path · DuckDB (&gt;100 MB) · Multi-file 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38527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Segoe UI"/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12264"/>
            <a:ext cx="73152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12264"/>
            <a:ext cx="112471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579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Segoe UI"/>
              </a:rPr>
              <a:t>Preprocessing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57984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Date parsing · Missing value fill · Negative value removal · MinMax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633471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Segoe UI"/>
              </a:rP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07208"/>
            <a:ext cx="73152" cy="4754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112471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52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Segoe UI"/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852928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Time features (Year/Month/Week/Day/DoW/Quarter/Weekend) · Lag features (1,7,14,30 days)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28415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Segoe UI"/>
              </a:rPr>
              <a:t>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02152"/>
            <a:ext cx="7315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02152"/>
            <a:ext cx="112471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478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Segoe UI"/>
              </a:rPr>
              <a:t>Modelling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47872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LSTM (TF/Keras) · Hybrid ARIMA+XGBoost · 80/20 chronological split · EarlyStopping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02335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Segoe UI"/>
              </a:rPr>
              <a:t>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97096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197096"/>
            <a:ext cx="112471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4281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Segoe UI"/>
              </a:rPr>
              <a:t>Evaluation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242816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MAE · RMSE · MAPE(%) · Best model selection · Actual vs Predicted chart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718303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Segoe UI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92040"/>
            <a:ext cx="73152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892040"/>
            <a:ext cx="112471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937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Segoe UI"/>
              </a:rPr>
              <a:t>Inventory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937760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Safety Stock · Reorder Point · EOQ · Projected inventory simulation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413247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Segoe UI"/>
              </a:rPr>
              <a:t>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86984"/>
            <a:ext cx="73152" cy="4754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586984"/>
            <a:ext cx="112471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6327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  <a:latin typeface="Segoe UI"/>
              </a:rPr>
              <a:t>Presentation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632704"/>
            <a:ext cx="7863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Streamlit dashboard · Plotly interactive charts · CSV/TXT downloads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Data Ingestion &amp; Preprocessing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Segoe UI"/>
              </a:rPr>
              <a:t>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422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737360"/>
            <a:ext cx="5047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Upload one or multiple CSV files via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3512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5047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Local folder path for large datasets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46020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59152"/>
            <a:ext cx="5047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DuckDB SQL engine for files &gt; 100 MB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5691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670048"/>
            <a:ext cx="5047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Auto-detects Favorita, M5, Walmart schemas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7812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980944"/>
            <a:ext cx="5047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Wide-format (M5) melt — day columns to long format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7870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291840"/>
            <a:ext cx="5047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Pandas chunked fallback (250K rows/chunk)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8960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602736"/>
            <a:ext cx="5047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Multi-file union and date aggregation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325880"/>
            <a:ext cx="18288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4173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  <a:latin typeface="Segoe UI"/>
              </a:rPr>
              <a:t>PREPROCESSING &amp; 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82422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1737360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Date column auto-detection (10+ aliases)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11683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2029968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Demand column auto-detection (15+ aliases)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40944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2322576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Date parsing with coerce on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702052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615184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Duplicate date merging (sum)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994660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2907792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Missing value fill: forward → backward → mean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28726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3200400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Negative value removal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57987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493008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MinMaxScaler for LSTM sequences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87248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3785616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Time features: Year, Month, Week, Day, DoW, Quarter, IsWeekend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165092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078224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Lag features: Sales_Lag_1, _7, _14, _30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Exploratory Data Analysis (EDA)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11430000" cy="457200"/>
          </a:xfrm>
          <a:prstGeom prst="rect">
            <a:avLst/>
          </a:prstGeom>
          <a:solidFill>
            <a:srgbClr val="1A56D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53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Segoe UI"/>
              </a:rPr>
              <a:t>Summary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53896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Count, Mean, Std Dev, Min, Median, Max, Skewness, Kurtosis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114300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84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BEAFE"/>
                </a:solidFill>
                <a:latin typeface="Segoe UI"/>
              </a:rPr>
              <a:t>Time-Series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8424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Interactive Plotly line chart of historical demand over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50591"/>
            <a:ext cx="11430000" cy="457200"/>
          </a:xfrm>
          <a:prstGeom prst="rect">
            <a:avLst/>
          </a:prstGeom>
          <a:solidFill>
            <a:srgbClr val="1A56D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145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Segoe UI"/>
              </a:rPr>
              <a:t>Trend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14599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30-day &amp; 90-day moving averages overlaid on actuals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80944"/>
            <a:ext cx="114300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44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BEAFE"/>
                </a:solidFill>
                <a:latin typeface="Segoe UI"/>
              </a:rPr>
              <a:t>Seasonal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04495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Bar charts — average demand by Month and by Day-of-Week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11296"/>
            <a:ext cx="11430000" cy="457200"/>
          </a:xfrm>
          <a:prstGeom prst="rect">
            <a:avLst/>
          </a:prstGeom>
          <a:solidFill>
            <a:srgbClr val="1A56D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75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Segoe UI"/>
              </a:rPr>
              <a:t>Demand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575304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Histogram with mean reference line (40 bins)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41648"/>
            <a:ext cx="114300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056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BEAFE"/>
                </a:solidFill>
                <a:latin typeface="Segoe UI"/>
              </a:rPr>
              <a:t>Monthly Box Plot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105656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Box-and-whisker spread of demand per calendar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solidFill>
            <a:srgbClr val="1A56D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36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Segoe UI"/>
              </a:rPr>
              <a:t>Outlier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63600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IQR method (1.5x) — outliers highlighted in scatter plot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02352"/>
            <a:ext cx="114300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BEAFE"/>
                </a:solidFill>
                <a:latin typeface="Segoe UI"/>
              </a:rPr>
              <a:t>Correlation Heatmap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16636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Pearson heatmap of up to 12 numerical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32704"/>
            <a:ext cx="11430000" cy="457200"/>
          </a:xfrm>
          <a:prstGeom prst="rect">
            <a:avLst/>
          </a:prstGeom>
          <a:solidFill>
            <a:srgbClr val="1A56DB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96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Segoe UI"/>
              </a:rPr>
              <a:t>ACF / PACF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69671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Autocorrelation &amp; partial-autocorrelation functions (available)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LSTM Forecasting Model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50876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Segoe U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85623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(batch, seq_len, 1)
MinMax-scaled 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783080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141732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2536" y="150876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Segoe UI"/>
              </a:rPr>
              <a:t>LSTM (64)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536" y="185623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activation=tanh
return_sequences=True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783080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9584" y="141732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50876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Segoe UI"/>
              </a:rPr>
              <a:t>Dropout (0.2)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85623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Regularization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1783080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1496" y="141732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150876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Segoe UI"/>
              </a:rPr>
              <a:t>LSTM (32)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85623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activation=tanh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1783080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3408" y="141732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150876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Segoe UI"/>
              </a:rPr>
              <a:t>Dropout (0.2)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185623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Regularization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1783080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41732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150876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A5E9"/>
                </a:solidFill>
                <a:latin typeface="Segoe UI"/>
              </a:rPr>
              <a:t>Dense (16)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185623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activation=ReLU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783080"/>
            <a:ext cx="21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57232" y="1417320"/>
            <a:ext cx="1417320" cy="100584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12096" y="150876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Dense (1)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1856232"/>
            <a:ext cx="1307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Segoe UI"/>
              </a:rPr>
              <a:t>Output — next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6517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Key Training Parameters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081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Optimizer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08152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Adam  (lr=0.001)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47872"/>
            <a:ext cx="5486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Loss Function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36118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Mean Squared Error (MSE)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078224"/>
            <a:ext cx="5486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142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Early Stopping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1422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patience=8, restore_best_weights=True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08576"/>
            <a:ext cx="5486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6725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Look-back Window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67258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Configurable: 10 – 60 days (default 30)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017520"/>
            <a:ext cx="5486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3081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Epochs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308152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Configurable: 10 – 150 (default 50)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47872"/>
            <a:ext cx="5486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Batch Size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61188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Configurable: 8 – 64 (default 32)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078224"/>
            <a:ext cx="5486400" cy="457200"/>
          </a:xfrm>
          <a:prstGeom prst="rect">
            <a:avLst/>
          </a:prstGeom>
          <a:solidFill>
            <a:srgbClr val="1E293B"/>
          </a:solidFill>
          <a:ln w="508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4142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Train/Test Split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41422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80% / 20% chronological (no shuffling)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Segoe UI"/>
              </a:rPr>
              <a:t>Future forecast: auto-regressive sliding window — each predicted step fed back as next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Hybrid ARIMA + XGBoost Model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7432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274320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6DB"/>
                </a:solidFill>
                <a:latin typeface="Segoe UI"/>
              </a:rPr>
              <a:t>Fit ARIMA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Fit ARIMA(p,d,q) on training data to capture
linear trend and autocorrelation patterns.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463040"/>
            <a:ext cx="27432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463040"/>
            <a:ext cx="27432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901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Segoe UI"/>
              </a:rPr>
              <a:t>Compute Residuals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2860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Residuals = Actual − ARIMA in-sample fit.
These represent nonlinear patterns not captured by ARIMA.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265176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463040"/>
            <a:ext cx="27432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463040"/>
            <a:ext cx="2743200" cy="347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901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EA5E9"/>
                </a:solidFill>
                <a:latin typeface="Segoe UI"/>
              </a:rPr>
              <a:t>Train 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2860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XGBoost trained on 10-lag features of residuals.
Residuals are StandardScaler-normalised before training.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265176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DB"/>
                </a:solidFill>
                <a:latin typeface="Segoe U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576" y="1463040"/>
            <a:ext cx="27432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0576" y="1463040"/>
            <a:ext cx="274320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1901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  <a:latin typeface="Segoe UI"/>
              </a:rPr>
              <a:t>Hybrid 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22860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Final forecast = ARIMA_forecast + XGBoost_correction.
Combines linear + nonlinear modelling strengths.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Segoe UI"/>
              </a:rPr>
              <a:t>ARIMA Fallback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Primary order configurable (default 1,1,1). Auto-falls-back through: (0,1,1) → (1,1,0) → (0,1,0) → (1,0,0).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663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Segoe UI"/>
              </a:rPr>
              <a:t>XGBoost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40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n_estimators=100  ·  learning_rate=0.05  ·  max_depth=5  ·  random_state=42  ·  Residual lags=10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Model Evaluation &amp; Comparison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6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Segoe UI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Mean Absolute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Average absolute deviation from actual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0B981"/>
                </a:solidFill>
                <a:latin typeface="Segoe UI"/>
              </a:rPr>
              <a:t>Lower is better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417320"/>
            <a:ext cx="36576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Segoe UI"/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0299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Root Mean Square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377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Penalises large errors more than MAE. Used as primary selection criterion.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108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0B981"/>
                </a:solidFill>
                <a:latin typeface="Segoe UI"/>
              </a:rPr>
              <a:t>Lower is better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417320"/>
            <a:ext cx="36576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Segoe UI"/>
              </a:rPr>
              <a:t>MAPE (%)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0299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Mean Absolute %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377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Scale-independent percentage error — enables cross-dataset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3108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0B981"/>
                </a:solidFill>
                <a:latin typeface="Segoe UI"/>
              </a:rPr>
              <a:t>Lower is better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Best Model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314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526280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Models compared side-by-side in a styled DataFrame with minimum values highlighted in green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0575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818888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Grouped bar chart renders MAE, RMSE, and MAPE(%) for both models simultaneously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9836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111496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Best model selected automatically by lowest RMSE — displayed in a green banner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90972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404104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Actual vs Predicted line chart overlays both models against test-set ground truth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83580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696712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LSTM training loss curve (train &amp; validation) available in expandable section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07618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989320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Best model name propagated to Forecast tab and Inventory tab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Future Demand Forecast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4990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63040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Configurable forecast horizon: 7 to 90 days (default 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395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47088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LSTM: auto-regressive sliding window using last seq_length scaled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1800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31136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Hybrid: ARIMA re-fitted on full data + XGBoost residual correction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02052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15184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Ensemble (Average) forecast automatically computed from both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86100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99232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Chart overlays: historical tail (90 days) + test actuals + both model forecasts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014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383280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Date axis correctly starts from day after last observed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5419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767328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Forecast table shows Date, LSTM, Hybrid, and Ensemble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3824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151376"/>
            <a:ext cx="6236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One-click CSV download of full forecast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417320"/>
            <a:ext cx="4663440" cy="4846320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54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Segoe UI"/>
              </a:rPr>
              <a:t>Forecast Chart — Legend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057400"/>
            <a:ext cx="4114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Historical Demand (last 90 days)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532888"/>
            <a:ext cx="41148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441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Test Actual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008376"/>
            <a:ext cx="411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2916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LSTM Forecast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483864"/>
            <a:ext cx="411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33924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Hybrid ARIMA+XGBoost Forecast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959352"/>
            <a:ext cx="41148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3867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Ensemble Average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5262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Segoe UI"/>
              </a:rPr>
              <a:t>Forecast outputs feed directly into the Inventory Optimization tab as the primary input for safety stock and reorder calculations.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Inventory Optimization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600" cy="2468880"/>
          </a:xfrm>
          <a:prstGeom prst="rect">
            <a:avLst/>
          </a:prstGeom>
          <a:solidFill>
            <a:srgbClr val="1E293B"/>
          </a:solidFill>
          <a:ln w="889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Segoe UI"/>
              </a:rPr>
              <a:t>Safety Stock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83664"/>
            <a:ext cx="32004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SS = Z × σ_demand × √(Lead 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Z = service-level Z-score
σ = std deviation of demand
LT = lead time in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417320"/>
            <a:ext cx="3657600" cy="2468880"/>
          </a:xfrm>
          <a:prstGeom prst="rect">
            <a:avLst/>
          </a:prstGeom>
          <a:solidFill>
            <a:srgbClr val="1E293B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Reorder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19" y="1883664"/>
            <a:ext cx="32004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ROP = (d̄ × Lead Time) + 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d̄ = average daily demand
SS = safety stock
LT = lead time in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3657600" cy="2468880"/>
          </a:xfrm>
          <a:prstGeom prst="rect">
            <a:avLst/>
          </a:prstGeom>
          <a:solidFill>
            <a:srgbClr val="1E293B"/>
          </a:solidFill>
          <a:ln w="889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EOQ (Optional)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39" y="1883664"/>
            <a:ext cx="32004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EOQ = √(2 × D × S / 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D = annual demand
S = ordering cost per order
H = annual holding cost per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Implemented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9427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407408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Service level configurable 80–99% (default 95%) — Z-score from normal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8688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700016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Forecast-based safety stock using forecast variability (preferred) vs historical std dev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79492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992624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Formula explanation table with actual substituted values shown on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72100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85232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Day-by-day inventory projection simulation with pending orders and lead-time delivery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4708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577840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Reorder and safety stock threshold lines annotated on projected inventory chart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57316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870448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Order event markers (triangle-up) at each automatic reorder trigger 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49924"/>
            <a:ext cx="64008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6163056"/>
            <a:ext cx="11082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Downloadable inventory report in both CSV and plain-text formats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Dashboard &amp; User Interface  [ DONE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371600" cy="713232"/>
          </a:xfrm>
          <a:prstGeom prst="rect">
            <a:avLst/>
          </a:prstGeom>
          <a:solidFill>
            <a:srgbClr val="1A56DB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819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417320"/>
            <a:ext cx="1005840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4721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Upload &amp;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783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CSV upload, column config, auto-detection, preview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04288"/>
            <a:ext cx="1371600" cy="713232"/>
          </a:xfrm>
          <a:prstGeom prst="rect">
            <a:avLst/>
          </a:prstGeom>
          <a:solidFill>
            <a:srgbClr val="1A56DB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68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EDA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304288"/>
            <a:ext cx="1005840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Exploratory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70048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8 interactive charts, stats, outlier detection, correlation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91256"/>
            <a:ext cx="1371600" cy="713232"/>
          </a:xfrm>
          <a:prstGeom prst="rect">
            <a:avLst/>
          </a:prstGeom>
          <a:solidFill>
            <a:srgbClr val="1A56DB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558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191256"/>
            <a:ext cx="1005840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Model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557016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Step-by-step training, progress, evaluation, downloads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78224"/>
            <a:ext cx="1371600" cy="713232"/>
          </a:xfrm>
          <a:prstGeom prst="rect">
            <a:avLst/>
          </a:prstGeom>
          <a:solidFill>
            <a:srgbClr val="1A56DB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428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Forecast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078224"/>
            <a:ext cx="1005840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41330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Future 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443984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N-day ahead forecast chart and downloadable 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65192"/>
            <a:ext cx="1371600" cy="713232"/>
          </a:xfrm>
          <a:prstGeom prst="rect">
            <a:avLst/>
          </a:prstGeom>
          <a:solidFill>
            <a:srgbClr val="1A56DB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1297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Inventory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4965192"/>
            <a:ext cx="10058400" cy="7132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50200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Inventory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330952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Safety stock, ROP, projection chart, formula explainer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Segoe UI"/>
              </a:rPr>
              <a:t>UI  ·  CSS animations (fadeIn, slideUp, slideInLeft)  ·  Dark sidebar  ·  Gradient buttons  ·  Metric card hover  ·  Styled Plotly charts  ·  Responsive layout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What Has Been Implemented —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Completed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Multi-source CSV ingestion (upload + folder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30552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DuckDB large-file loader (&gt; 100 MB)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780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78024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Wide-format (M5) dataset auto-melt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254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25496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Full data preprocessing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729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72968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Time &amp; lag 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2044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LSTM model (2-layer, dropout, EarlyStopping)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67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867912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Auto-regressive future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153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215384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Hybrid ARIMA + XGBoost with fallback orders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71600"/>
            <a:ext cx="18288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Completed Items (contd.)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1783080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Model comparison (MAE, RMSE, MAPE)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30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2130552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Best-model auto-selection by RMSE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4780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2478024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N-day future demand forecast (7–90 days)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8254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282549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Ensemble average forecast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1729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3172968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Safety Stock &amp; Reorder Point calculation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3520440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Inventory projection simulation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867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3867912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Formula explainer with actual values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2153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4215384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Professional Streamlit dashboard with animations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5628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[+]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456285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CSV &amp; text report downloads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What Remains To Be Done —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3152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Segoe UI"/>
              </a:rPr>
              <a:t>Model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Save &amp; load trained LSTM/Hybrid models to disk (save_model / load_model already coded in LSTM class). Allows skipping re-training on repeated visits.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417320"/>
            <a:ext cx="73152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508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56DB"/>
                </a:solidFill>
                <a:latin typeface="Segoe UI"/>
              </a:rPr>
              <a:t>SARIMA / Prophet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Add Facebook Prophet or SARIMA as a third model option for datasets with strong seasonality. Include in model comparison and auto-selection.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73152" cy="1170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Segoe UI"/>
              </a:rPr>
              <a:t>Rolling Walk-Forward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Replace single train/test split with expanding-window cross-validation. Provides more robust MAPE/RMSE estimates, especially for short datasets.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697480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697480"/>
            <a:ext cx="73152" cy="1170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9" y="2788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Segoe UI"/>
              </a:rPr>
              <a:t>EOQ Cost Input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31089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Expose Annual Demand, Holding Cost, and Ordering Cost inputs in the dashboard to activate Economic Order Quantity calculation (formula already implemented).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77639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77639"/>
            <a:ext cx="73152" cy="1170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690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Segoe UI"/>
              </a:rPr>
              <a:t>Confidence Intervals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1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Display prediction intervals (e.g., 80% / 95% bands) around the LSTM and Hybrid forecasts using bootstrap or ARIMA confidence intervals from statsmodels.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3977639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977639"/>
            <a:ext cx="73152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39" y="40690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Segoe UI"/>
              </a:rPr>
              <a:t>Multi-Item / SKU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39" y="438911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Currently aggregates all items into a single time series. Add item-level selection so users can forecast individual SKUs or product categories.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57799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257799"/>
            <a:ext cx="73152" cy="1170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492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  <a:latin typeface="Segoe UI"/>
              </a:rPr>
              <a:t>Jupyter Notebook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6927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Populate the empty notebooks/ folder with step-by-step exploratory notebooks demonstrating each module independently (data, EDA, LSTM, Hybrid, Inventory).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5257799"/>
            <a:ext cx="5669280" cy="1170432"/>
          </a:xfrm>
          <a:prstGeom prst="rect">
            <a:avLst/>
          </a:prstGeom>
          <a:solidFill>
            <a:srgbClr val="1E293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59" y="5257799"/>
            <a:ext cx="73152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39" y="53492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Segoe UI"/>
              </a:rPr>
              <a:t>Unit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39" y="566927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Add pytest test suite covering preprocessing validation, model training on synthetic data, inventory calculations, and edge cases (empty files, single-row datasets).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28600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286000" cy="3200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170432"/>
            <a:ext cx="8942832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64008" cy="7132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087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Segoe UI"/>
              </a:rPr>
              <a:t>Python 3.11+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5087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TensorFlow 2.16 / Keras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64008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77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ML / 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XGBoost 3.3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28600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286000"/>
            <a:ext cx="64008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774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Statistics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Statsmodels 0.14 (ARIMA)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5468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64008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246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Segoe UI"/>
              </a:rPr>
              <a:t>Pandas 3.0 · NumPy 1.26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15468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154680"/>
            <a:ext cx="64008" cy="7132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246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Preprocessing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246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Segoe UI"/>
              </a:rPr>
              <a:t>Scikit-learn 1.9 (MinMaxScaler)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23359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023359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1479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Big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11479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DuckDB 1.0+ (SQL on CSV)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023359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023359"/>
            <a:ext cx="64008" cy="7132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1479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Visualisation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11479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Plotly 6.9 · Matplotlib 3.11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892040"/>
            <a:ext cx="64008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983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983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Streamlit 1.60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892040"/>
            <a:ext cx="557784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892040"/>
            <a:ext cx="64008" cy="7132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983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Math / Stats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983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Segoe UI"/>
              </a:rPr>
              <a:t>SciPy 1.13 (Z-scores, IQR)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88952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578608"/>
            <a:ext cx="30175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EA5E9"/>
                </a:solidFill>
                <a:latin typeface="Segoe UI"/>
              </a:rPr>
              <a:t>AI-Based Demand Forecasting System for Inventory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B.E. Artificial Intelligence &amp; Machine Learning — Major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97680"/>
            <a:ext cx="196596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E"/>
                </a:solidFill>
                <a:latin typeface="Segoe UI"/>
              </a:rPr>
              <a:t>5 Dashboard Tabs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4297680"/>
            <a:ext cx="196596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2976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E"/>
                </a:solidFill>
                <a:latin typeface="Segoe UI"/>
              </a:rPr>
              <a:t>2 AI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4297680"/>
            <a:ext cx="196596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42976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E"/>
                </a:solidFill>
                <a:latin typeface="Segoe UI"/>
              </a:rPr>
              <a:t>3 Inventory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297680"/>
            <a:ext cx="196596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2976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E"/>
                </a:solidFill>
                <a:latin typeface="Segoe UI"/>
              </a:rPr>
              <a:t>8+ EDA Charts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4297680"/>
            <a:ext cx="196596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429768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BEAFE"/>
                </a:solidFill>
                <a:latin typeface="Segoe UI"/>
              </a:rPr>
              <a:t>Full Download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